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担当：① / 導入。真面目なトーンで。
話す例：『私たちは、地域課題の探究として、地元の町田天満宮を取り上げました。テーマは「初詣以外の時期にも、どうすれば人が訪れる神社にできるか」です。調査から提案までを発表します。』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担当：② / 課題を、事実と自分たちの観察で示す。
話す例：『町田天満宮は地域の神社ですが、人が集まるのは初詣と秋の例大祭くらい。実際にふだんの日に行くと、この通り閑散としていました。そこで私たちの問いは「初詣以外の日にも、どうすれば人が訪れる場所にできるか」です。』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担当：② / データで現状を裏付ける。
話す例：『これは私たちが調べた初詣の混雑グラフです。お正月は非常に混みますが、逆に言えば、それ以外の時期は閑散しているということ。つまり、一年のうちごく限られた日しか活かされていないのが現状です。』
※実物のグラフを差し込む。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担当：③ / 魅力の1つ目。学問・信仰の切り口。
話す例：『次に、天満宮にどんな魅力があるかを調べました。まず学問・信仰の魅力です。撫で牛は学問の神の使いで、鼻が撫でられ続けて金色に光っていました。ほかに、学問の神・菅原道真、縁起物の木うそなどがあります。』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担当：③ / 魅力の2つ目。立地・歴史。
話す例：『次に立地と歴史の魅力です。参道は、線路をまたぐ歩道橋“参宮橋”を渡って続きます。歴史も古く、戦国時代の創建で、大火や改称を経て今に至ります。境内には梅やクスノキなど、見どころも多くあります。』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担当：④ / 魅力の3つ目。交流・イベント（＝ふだんの参拝に直結）。
話す例：『3つ目は、交流・イベントの魅力です。毎月1日の骨董市、秋の例大祭、そして七福神の恵比寿さま。特に骨董市は“毎月ある”交流の場で、ふだんの参拝のカギになりそうです。』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担当：④ / 集めた魅力を分類し、考察につなぐ。
話す例：『集めた魅力を「いつ楽しめるか」で分けました。常時楽しめるもの、毎月あるもの、季節のもの。こうして整理すると、初詣以外に楽しめる魅力が数多くあると分かります。』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担当：⑤ / 要因を分析し、原因を特定する。
話す例：『では、なぜ通年で活かされないのか。初詣や例大祭は知られているから人が来る。しかし撫で牛や骨董市などは、地域の人にも十分知られていません。身近な魅力ほど、発信されにくい。私たちは、主な要因は“知られていないこと”だと考えました。』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担当：⑤ / 解決策（探究の中心）。神社は商業施設ではないので“草の根で知ってもらう”姿勢を強調。
話す例：『そこで私たちの提案です。派手なイベントを増やすのではなく、既にある魅力を地道に発信します。校内の掲示やポスターで、撫で牛や木うそ、梅などの魅力を月替わりで紹介する。骨董市や例大祭など、もともとある行きどきをさりげなく伝える。新しいことはせず、“知ってもらう”ことに徹します。地域の人が町田天満宮を思い出すきっかけを、少しずつ増やしたいと考えました。』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担当：⑥ / 提案の効果を述べる。
話す例：『これらの提案によって、初詣に頼らず、ふだんから一定の人が参拝するようになることが期待できます。さらに、地域の人が身近な良さを再発見し、骨董市や例大祭にも足を運ぶようになる。地域への愛着や交流にもつながると考えます。』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担当：⑥ / 探究をSDGsに結びつける。
話す例：『この取り組みは、SDGsの目標ともつながっています。まず目標11「住み続けられるまちづくりを」。地域の宝を守り活かすことは、持続可能なまちづくりそのものです。また目標3「すべての人に健康と福祉を」。地域に居場所があることは、人の交流や生きがい、心の健康を支えます。』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担当：⑥ / 結論。問いに正対して締める。
話す例：『まとめます。町田天満宮は、一年を通して楽しめる魅力を備えていました。課題は参拝が特定の時期に偏っていることで、主な要因は魅力が知られていないことです。だからこそ、派手なことをせず、私たち住民が地道に発信することで、ふだんから親しまれる神社にしていけると考えます。まずは私たち自身が、ふだんの日に足を運ぶことから始めます。』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jpg"/><Relationship Id="rId2" Type="http://schemas.openxmlformats.org/officeDocument/2006/relationships/image" Target="../media/image-4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jpg"/><Relationship Id="rId2" Type="http://schemas.openxmlformats.org/officeDocument/2006/relationships/image" Target="../media/image-5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4C14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325880"/>
            <a:ext cx="7132320" cy="2103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36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町田天満宮を、</a:t>
            </a:r>
            <a:endParaRPr lang="en-US" sz="36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36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一年を通して親しまれる神社に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658368" y="3611880"/>
            <a:ext cx="71323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E7C6D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― 初詣以外の活性化を考える ―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676656" y="3520440"/>
            <a:ext cx="3200400" cy="0"/>
          </a:xfrm>
          <a:prstGeom prst="line">
            <a:avLst/>
          </a:prstGeom>
          <a:noFill/>
          <a:ln w="25400">
            <a:solidFill>
              <a:srgbClr val="B58A2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58368" y="5074920"/>
            <a:ext cx="69494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E7C6D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総合的な学習の時間 ／ 地域課題の探究（街づくり）</a:t>
            </a:r>
            <a:endParaRPr lang="en-US" sz="14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2年　組　　班　　（メンバー：　　　・　　　・　　　・　　　・　　　・　　　）</a:t>
            </a:r>
            <a:endParaRPr lang="en-US" sz="1400" dirty="0"/>
          </a:p>
        </p:txBody>
      </p:sp>
      <p:pic>
        <p:nvPicPr>
          <p:cNvPr id="6" name="Image 0" descr="img/cover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8046720" y="1371600"/>
            <a:ext cx="3520440" cy="41148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640080" y="640080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79AA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町田天満宮 探究レポート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10911535" y="6400800"/>
            <a:ext cx="1005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B79AA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 / 12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8A234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1. 課題設定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640080" y="914400"/>
            <a:ext cx="10972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23232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ふだんの町田天満宮に、どう足を運んでもらうか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658368" y="2103120"/>
            <a:ext cx="6949440" cy="2377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03200" indent="-203200">
              <a:lnSpc>
                <a:spcPct val="125000"/>
              </a:lnSpc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3232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町田天満宮は、学問の神・菅原道真を祀る、地域の神社である。</a:t>
            </a:r>
            <a:endParaRPr lang="en-US" sz="1600" dirty="0"/>
          </a:p>
          <a:p>
            <a:pPr marL="203200" indent="-203200">
              <a:lnSpc>
                <a:spcPct val="125000"/>
              </a:lnSpc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3232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しかし参拝者が集まるのは、初詣（1月）と例大祭（秋）にほぼ限られる。</a:t>
            </a:r>
            <a:endParaRPr lang="en-US" sz="1600" dirty="0"/>
          </a:p>
          <a:p>
            <a:pPr marL="203200" indent="-203200">
              <a:lnSpc>
                <a:spcPct val="125000"/>
              </a:lnSpc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3232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実際にふだんの日に訪れると、境内は閑散としていた（右の写真）。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58368" y="5029200"/>
            <a:ext cx="6949440" cy="1051560"/>
          </a:xfrm>
          <a:prstGeom prst="roundRect">
            <a:avLst>
              <a:gd name="adj" fmla="val 6957"/>
            </a:avLst>
          </a:prstGeom>
          <a:solidFill>
            <a:srgbClr val="F3E7EB"/>
          </a:solidFill>
          <a:ln/>
        </p:spPr>
      </p:sp>
      <p:sp>
        <p:nvSpPr>
          <p:cNvPr id="6" name="Text 4"/>
          <p:cNvSpPr/>
          <p:nvPr/>
        </p:nvSpPr>
        <p:spPr>
          <a:xfrm>
            <a:off x="822960" y="5029200"/>
            <a:ext cx="667512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450" b="1" dirty="0">
                <a:solidFill>
                  <a:srgbClr val="8A234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問い　</a:t>
            </a:r>
            <a:pPr indent="0" marL="0">
              <a:lnSpc>
                <a:spcPct val="125000"/>
              </a:lnSpc>
              <a:buNone/>
            </a:pPr>
            <a:r>
              <a:rPr lang="en-US" sz="1450" b="1" dirty="0">
                <a:solidFill>
                  <a:srgbClr val="23232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初詣以外の日にも、どうすれば人が訪れる場所にできるか。</a:t>
            </a:r>
            <a:endParaRPr lang="en-US" sz="1450" dirty="0"/>
          </a:p>
        </p:txBody>
      </p:sp>
      <p:pic>
        <p:nvPicPr>
          <p:cNvPr id="7" name="Image 0" descr="img/empty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7863840" y="2148840"/>
            <a:ext cx="3749040" cy="27889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7863840" y="4983480"/>
            <a:ext cx="3749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A8A8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▲ ふだんの町田天満宮（班で撮影）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40080" y="640080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町田天満宮 探究レポート</a:t>
            </a:r>
            <a:endParaRPr lang="en-US" sz="1000" dirty="0"/>
          </a:p>
        </p:txBody>
      </p:sp>
      <p:sp>
        <p:nvSpPr>
          <p:cNvPr id="10" name="Text 7"/>
          <p:cNvSpPr/>
          <p:nvPr/>
        </p:nvSpPr>
        <p:spPr>
          <a:xfrm>
            <a:off x="10911535" y="6400800"/>
            <a:ext cx="1005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 / 12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8A234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2. 調査①：現状のデータ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640080" y="914400"/>
            <a:ext cx="10972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23232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参拝者は、特定の時期に集中している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640080" y="2057400"/>
            <a:ext cx="6858000" cy="3977640"/>
          </a:xfrm>
          <a:prstGeom prst="roundRect">
            <a:avLst>
              <a:gd name="adj" fmla="val 1839"/>
            </a:avLst>
          </a:prstGeom>
          <a:solidFill>
            <a:srgbClr val="F3E7EB"/>
          </a:solidFill>
          <a:ln w="19050">
            <a:solidFill>
              <a:srgbClr val="8A2340"/>
            </a:solidFill>
            <a:prstDash val="dash"/>
          </a:ln>
        </p:spPr>
      </p:sp>
      <p:sp>
        <p:nvSpPr>
          <p:cNvPr id="5" name="Text 3"/>
          <p:cNvSpPr/>
          <p:nvPr/>
        </p:nvSpPr>
        <p:spPr>
          <a:xfrm>
            <a:off x="822960" y="2057400"/>
            <a:ext cx="6492240" cy="3977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600" b="1" dirty="0">
                <a:solidFill>
                  <a:srgbClr val="8A234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［ 初詣混雑グラフ を貼る ］</a:t>
            </a:r>
            <a:endParaRPr lang="en-US" sz="160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8A5A6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時間帯ごとの混雑密度（班で調査）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7772400" y="2148840"/>
            <a:ext cx="3840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234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グラフからの読み取り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7772400" y="2651760"/>
            <a:ext cx="3886200" cy="3108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03200" indent="-203200">
              <a:lnSpc>
                <a:spcPct val="125000"/>
              </a:lnSpc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23232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初詣は、時間帯を問わず混雑している。</a:t>
            </a:r>
            <a:endParaRPr lang="en-US" sz="1500" dirty="0"/>
          </a:p>
          <a:p>
            <a:pPr marL="203200" indent="-203200">
              <a:lnSpc>
                <a:spcPct val="125000"/>
              </a:lnSpc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23232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裏を返せば、それ以外の時期は閑散している。</a:t>
            </a:r>
            <a:endParaRPr lang="en-US" sz="1500" dirty="0"/>
          </a:p>
          <a:p>
            <a:pPr marL="203200" indent="-203200">
              <a:lnSpc>
                <a:spcPct val="125000"/>
              </a:lnSpc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23232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＝ 一年のうち、ごく限られた日しか活用されていない。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640080" y="640080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町田天満宮 探究レポート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10911535" y="6400800"/>
            <a:ext cx="1005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 / 12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8A234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2. 調査②：どんな魅力があるか（1/3）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640080" y="914400"/>
            <a:ext cx="10972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23232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学問・信仰の魅力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658368" y="2103120"/>
            <a:ext cx="694944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03200" indent="-203200">
              <a:lnSpc>
                <a:spcPct val="125000"/>
              </a:lnSpc>
              <a:spcAft>
                <a:spcPts val="800"/>
              </a:spcAft>
              <a:buSzPct val="100000"/>
              <a:buChar char="•"/>
            </a:pPr>
            <a:r>
              <a:rPr lang="en-US" sz="1550" dirty="0">
                <a:solidFill>
                  <a:srgbClr val="23232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撫で牛：学問の神の使い。頭を撫でると賢くなるとされ、鼻は撫でられ続けて摩耗し金色に光る（＝信仰の厚さの表れ）。</a:t>
            </a:r>
            <a:endParaRPr lang="en-US" sz="1550" dirty="0"/>
          </a:p>
          <a:p>
            <a:pPr marL="203200" indent="-203200">
              <a:lnSpc>
                <a:spcPct val="125000"/>
              </a:lnSpc>
              <a:spcAft>
                <a:spcPts val="800"/>
              </a:spcAft>
              <a:buSzPct val="100000"/>
              <a:buChar char="•"/>
            </a:pPr>
            <a:r>
              <a:rPr lang="en-US" sz="1550" dirty="0">
                <a:solidFill>
                  <a:srgbClr val="23232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菅原道真：学問・書道の神。合格祈願の対象として、受験生に関わりが深い。</a:t>
            </a:r>
            <a:endParaRPr lang="en-US" sz="1550" dirty="0"/>
          </a:p>
          <a:p>
            <a:pPr marL="203200" indent="-203200">
              <a:lnSpc>
                <a:spcPct val="125000"/>
              </a:lnSpc>
              <a:spcAft>
                <a:spcPts val="800"/>
              </a:spcAft>
              <a:buSzPct val="100000"/>
              <a:buChar char="•"/>
            </a:pPr>
            <a:r>
              <a:rPr lang="en-US" sz="1550" dirty="0">
                <a:solidFill>
                  <a:srgbClr val="23232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木うそ：「鷽（うそ）」という鳥をかたどったお守り。“うそ”が“嘘”に通じることから、これまでの悪いことを“嘘”にして今年の幸運に取り替えるとされる、縁起物のお守り。</a:t>
            </a:r>
            <a:endParaRPr lang="en-US" sz="1550" dirty="0"/>
          </a:p>
        </p:txBody>
      </p:sp>
      <p:pic>
        <p:nvPicPr>
          <p:cNvPr id="5" name="Image 0" descr="img/ushi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7772400" y="2148840"/>
            <a:ext cx="1847088" cy="246888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7772400" y="4681728"/>
            <a:ext cx="184708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A8A8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▲ 撫で牛（鼻が金色）</a:t>
            </a:r>
            <a:endParaRPr lang="en-US" sz="1100" dirty="0"/>
          </a:p>
        </p:txBody>
      </p:sp>
      <p:pic>
        <p:nvPicPr>
          <p:cNvPr id="7" name="Image 1" descr="img/ushi_te.jp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9802368" y="2148840"/>
            <a:ext cx="1847088" cy="246888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9802368" y="4681728"/>
            <a:ext cx="184708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A8A8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▲ 実際に撫でてきた</a:t>
            </a:r>
            <a:endParaRPr lang="en-US" sz="1100" dirty="0"/>
          </a:p>
        </p:txBody>
      </p:sp>
      <p:sp>
        <p:nvSpPr>
          <p:cNvPr id="9" name="Text 5"/>
          <p:cNvSpPr/>
          <p:nvPr/>
        </p:nvSpPr>
        <p:spPr>
          <a:xfrm>
            <a:off x="640080" y="640080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町田天満宮 探究レポート</a:t>
            </a:r>
            <a:endParaRPr lang="en-US" sz="1000" dirty="0"/>
          </a:p>
        </p:txBody>
      </p:sp>
      <p:sp>
        <p:nvSpPr>
          <p:cNvPr id="10" name="Text 6"/>
          <p:cNvSpPr/>
          <p:nvPr/>
        </p:nvSpPr>
        <p:spPr>
          <a:xfrm>
            <a:off x="10911535" y="6400800"/>
            <a:ext cx="1005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4 / 12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8A234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2. 調査②：どんな魅力があるか（2/3）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640080" y="914400"/>
            <a:ext cx="10972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23232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立地・歴史の魅力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658368" y="2103120"/>
            <a:ext cx="694944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03200" indent="-203200">
              <a:lnSpc>
                <a:spcPct val="125000"/>
              </a:lnSpc>
              <a:spcAft>
                <a:spcPts val="800"/>
              </a:spcAft>
              <a:buSzPct val="100000"/>
              <a:buChar char="•"/>
            </a:pPr>
            <a:r>
              <a:rPr lang="en-US" sz="1550" dirty="0">
                <a:solidFill>
                  <a:srgbClr val="23232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アクセスの良さ：町田駅から徒歩約10分。参道はJR横浜線をまたぐ歩道橋「参宮橋」で駅前と直結し、街なかにありながら行きやすい。</a:t>
            </a:r>
            <a:endParaRPr lang="en-US" sz="1550" dirty="0"/>
          </a:p>
          <a:p>
            <a:pPr marL="203200" indent="-203200">
              <a:lnSpc>
                <a:spcPct val="125000"/>
              </a:lnSpc>
              <a:spcAft>
                <a:spcPts val="800"/>
              </a:spcAft>
              <a:buSzPct val="100000"/>
              <a:buChar char="•"/>
            </a:pPr>
            <a:r>
              <a:rPr lang="en-US" sz="1550" dirty="0">
                <a:solidFill>
                  <a:srgbClr val="23232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歴史：天正年間（1580年ごろ＝安土桃山時代、戦国の終わりごろ）の創建。大火や合祀を経て、昭和39年（1964年）に現在の社名に。440年以上の歴史をもつ。</a:t>
            </a:r>
            <a:endParaRPr lang="en-US" sz="1550" dirty="0"/>
          </a:p>
          <a:p>
            <a:pPr marL="203200" indent="-203200">
              <a:lnSpc>
                <a:spcPct val="125000"/>
              </a:lnSpc>
              <a:spcAft>
                <a:spcPts val="800"/>
              </a:spcAft>
              <a:buSzPct val="100000"/>
              <a:buChar char="•"/>
            </a:pPr>
            <a:r>
              <a:rPr lang="en-US" sz="1550" dirty="0">
                <a:solidFill>
                  <a:srgbClr val="23232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境内：梅（約10種）、大きなクスノキ、龍を配した手水舎（ちょうずや）など、見どころが多い。</a:t>
            </a:r>
            <a:endParaRPr lang="en-US" sz="1550" dirty="0"/>
          </a:p>
        </p:txBody>
      </p:sp>
      <p:pic>
        <p:nvPicPr>
          <p:cNvPr id="5" name="Image 0" descr="img/bridge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7772400" y="2148840"/>
            <a:ext cx="1847088" cy="246888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7772400" y="4681728"/>
            <a:ext cx="184708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A8A8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▲ 参宮橋</a:t>
            </a:r>
            <a:endParaRPr lang="en-US" sz="1100" dirty="0"/>
          </a:p>
        </p:txBody>
      </p:sp>
      <p:pic>
        <p:nvPicPr>
          <p:cNvPr id="7" name="Image 1" descr="img/chozu.jp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9802368" y="2148840"/>
            <a:ext cx="1901952" cy="1545336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9802368" y="3776472"/>
            <a:ext cx="19019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A8A8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▲ 龍の手水舎</a:t>
            </a:r>
            <a:endParaRPr lang="en-US" sz="1100" dirty="0"/>
          </a:p>
        </p:txBody>
      </p:sp>
      <p:sp>
        <p:nvSpPr>
          <p:cNvPr id="9" name="Text 5"/>
          <p:cNvSpPr/>
          <p:nvPr/>
        </p:nvSpPr>
        <p:spPr>
          <a:xfrm>
            <a:off x="640080" y="640080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町田天満宮 探究レポート</a:t>
            </a:r>
            <a:endParaRPr lang="en-US" sz="1000" dirty="0"/>
          </a:p>
        </p:txBody>
      </p:sp>
      <p:sp>
        <p:nvSpPr>
          <p:cNvPr id="10" name="Text 6"/>
          <p:cNvSpPr/>
          <p:nvPr/>
        </p:nvSpPr>
        <p:spPr>
          <a:xfrm>
            <a:off x="10911535" y="6400800"/>
            <a:ext cx="1005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5 / 12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8A234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2. 調査②：どんな魅力があるか（3/3）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640080" y="914400"/>
            <a:ext cx="10972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23232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交流・イベントの魅力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7680960" cy="1188720"/>
          </a:xfrm>
          <a:prstGeom prst="roundRect">
            <a:avLst>
              <a:gd name="adj" fmla="val 6154"/>
            </a:avLst>
          </a:prstGeom>
          <a:solidFill>
            <a:srgbClr val="F3E7EB"/>
          </a:solidFill>
          <a:ln/>
        </p:spPr>
      </p:sp>
      <p:sp>
        <p:nvSpPr>
          <p:cNvPr id="5" name="Text 3"/>
          <p:cNvSpPr/>
          <p:nvPr/>
        </p:nvSpPr>
        <p:spPr>
          <a:xfrm>
            <a:off x="868680" y="1965960"/>
            <a:ext cx="246888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234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がらくた骨董市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3429000" y="2057400"/>
            <a:ext cx="470916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23232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毎月1日に開催。昭和レトロや古道具が並び、近年は若い出店者や若い世代の来訪も増えている。地域の交流の場となっている。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40080" y="3291840"/>
            <a:ext cx="7680960" cy="1188720"/>
          </a:xfrm>
          <a:prstGeom prst="roundRect">
            <a:avLst>
              <a:gd name="adj" fmla="val 6154"/>
            </a:avLst>
          </a:prstGeom>
          <a:solidFill>
            <a:srgbClr val="F3E7EB"/>
          </a:solidFill>
          <a:ln/>
        </p:spPr>
      </p:sp>
      <p:sp>
        <p:nvSpPr>
          <p:cNvPr id="8" name="Text 6"/>
          <p:cNvSpPr/>
          <p:nvPr/>
        </p:nvSpPr>
        <p:spPr>
          <a:xfrm>
            <a:off x="868680" y="3291840"/>
            <a:ext cx="246888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234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例大祭（秋）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3429000" y="3383280"/>
            <a:ext cx="470916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23232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9月下旬の土日。神輿（みこし）が街を練り歩く「渡御（とぎょ）」が行われる。複数の町内会の神輿が駅前に連なる「連結渡御」が見どころ。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640080" y="4617720"/>
            <a:ext cx="7680960" cy="1188720"/>
          </a:xfrm>
          <a:prstGeom prst="roundRect">
            <a:avLst>
              <a:gd name="adj" fmla="val 6154"/>
            </a:avLst>
          </a:prstGeom>
          <a:solidFill>
            <a:srgbClr val="F3E7EB"/>
          </a:solidFill>
          <a:ln/>
        </p:spPr>
      </p:sp>
      <p:sp>
        <p:nvSpPr>
          <p:cNvPr id="11" name="Text 9"/>
          <p:cNvSpPr/>
          <p:nvPr/>
        </p:nvSpPr>
        <p:spPr>
          <a:xfrm>
            <a:off x="868680" y="4617720"/>
            <a:ext cx="246888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234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恵比寿・七福神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3429000" y="4709160"/>
            <a:ext cx="470916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23232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「原町田七福神」の恵比寿神を兼ねており、地域の巡礼コースの一部にもなっている。</a:t>
            </a:r>
            <a:endParaRPr lang="en-US" sz="1300" dirty="0"/>
          </a:p>
        </p:txBody>
      </p:sp>
      <p:pic>
        <p:nvPicPr>
          <p:cNvPr id="13" name="Image 0" descr="img/ebisu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8549640" y="1965960"/>
            <a:ext cx="3108960" cy="3840480"/>
          </a:xfrm>
          <a:prstGeom prst="rect">
            <a:avLst/>
          </a:prstGeom>
        </p:spPr>
      </p:pic>
      <p:sp>
        <p:nvSpPr>
          <p:cNvPr id="14" name="Text 11"/>
          <p:cNvSpPr/>
          <p:nvPr/>
        </p:nvSpPr>
        <p:spPr>
          <a:xfrm>
            <a:off x="8366760" y="5870448"/>
            <a:ext cx="3474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A8A8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▲ 恵比寿さま（原町田七福神）</a:t>
            </a:r>
            <a:endParaRPr lang="en-US" sz="1100" dirty="0"/>
          </a:p>
        </p:txBody>
      </p:sp>
      <p:sp>
        <p:nvSpPr>
          <p:cNvPr id="15" name="Text 12"/>
          <p:cNvSpPr/>
          <p:nvPr/>
        </p:nvSpPr>
        <p:spPr>
          <a:xfrm>
            <a:off x="640080" y="640080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町田天満宮 探究レポート</a:t>
            </a:r>
            <a:endParaRPr lang="en-US" sz="1000" dirty="0"/>
          </a:p>
        </p:txBody>
      </p:sp>
      <p:sp>
        <p:nvSpPr>
          <p:cNvPr id="16" name="Text 13"/>
          <p:cNvSpPr/>
          <p:nvPr/>
        </p:nvSpPr>
        <p:spPr>
          <a:xfrm>
            <a:off x="10911535" y="6400800"/>
            <a:ext cx="1005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6 / 12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8A234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3. 整理・分類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640080" y="914400"/>
            <a:ext cx="10972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23232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魅力を「いつ楽しめるか」で分ける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640080" y="2148840"/>
            <a:ext cx="10927080" cy="914400"/>
          </a:xfrm>
          <a:prstGeom prst="roundRect">
            <a:avLst>
              <a:gd name="adj" fmla="val 8000"/>
            </a:avLst>
          </a:prstGeom>
          <a:solidFill>
            <a:srgbClr val="F3E7EB"/>
          </a:solidFill>
          <a:ln/>
        </p:spPr>
      </p:sp>
      <p:sp>
        <p:nvSpPr>
          <p:cNvPr id="5" name="Shape 3"/>
          <p:cNvSpPr/>
          <p:nvPr/>
        </p:nvSpPr>
        <p:spPr>
          <a:xfrm>
            <a:off x="822960" y="2295144"/>
            <a:ext cx="2926080" cy="621792"/>
          </a:xfrm>
          <a:prstGeom prst="roundRect">
            <a:avLst>
              <a:gd name="adj" fmla="val 8824"/>
            </a:avLst>
          </a:prstGeom>
          <a:solidFill>
            <a:srgbClr val="8A2340"/>
          </a:solidFill>
          <a:ln/>
        </p:spPr>
      </p:sp>
      <p:sp>
        <p:nvSpPr>
          <p:cNvPr id="6" name="Text 4"/>
          <p:cNvSpPr/>
          <p:nvPr/>
        </p:nvSpPr>
        <p:spPr>
          <a:xfrm>
            <a:off x="822960" y="2295144"/>
            <a:ext cx="292608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常時（いつでも）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3977640" y="2148840"/>
            <a:ext cx="73152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23232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撫で牛・木うそ・参宮橋・恵比寿・境内の見どころ</a:t>
            </a:r>
            <a:endParaRPr lang="en-US" sz="1550" dirty="0"/>
          </a:p>
        </p:txBody>
      </p:sp>
      <p:sp>
        <p:nvSpPr>
          <p:cNvPr id="8" name="Shape 6"/>
          <p:cNvSpPr/>
          <p:nvPr/>
        </p:nvSpPr>
        <p:spPr>
          <a:xfrm>
            <a:off x="640080" y="3200400"/>
            <a:ext cx="10927080" cy="914400"/>
          </a:xfrm>
          <a:prstGeom prst="roundRect">
            <a:avLst>
              <a:gd name="adj" fmla="val 8000"/>
            </a:avLst>
          </a:prstGeom>
          <a:solidFill>
            <a:srgbClr val="F3E7EB"/>
          </a:solidFill>
          <a:ln/>
        </p:spPr>
      </p:sp>
      <p:sp>
        <p:nvSpPr>
          <p:cNvPr id="9" name="Shape 7"/>
          <p:cNvSpPr/>
          <p:nvPr/>
        </p:nvSpPr>
        <p:spPr>
          <a:xfrm>
            <a:off x="822960" y="3346704"/>
            <a:ext cx="2926080" cy="621792"/>
          </a:xfrm>
          <a:prstGeom prst="roundRect">
            <a:avLst>
              <a:gd name="adj" fmla="val 8824"/>
            </a:avLst>
          </a:prstGeom>
          <a:solidFill>
            <a:srgbClr val="8A2340"/>
          </a:solidFill>
          <a:ln/>
        </p:spPr>
      </p:sp>
      <p:sp>
        <p:nvSpPr>
          <p:cNvPr id="10" name="Text 8"/>
          <p:cNvSpPr/>
          <p:nvPr/>
        </p:nvSpPr>
        <p:spPr>
          <a:xfrm>
            <a:off x="822960" y="3346704"/>
            <a:ext cx="292608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毎月（1日）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3977640" y="3200400"/>
            <a:ext cx="73152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23232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がらくた骨董市</a:t>
            </a:r>
            <a:endParaRPr lang="en-US" sz="1550" dirty="0"/>
          </a:p>
        </p:txBody>
      </p:sp>
      <p:sp>
        <p:nvSpPr>
          <p:cNvPr id="12" name="Shape 10"/>
          <p:cNvSpPr/>
          <p:nvPr/>
        </p:nvSpPr>
        <p:spPr>
          <a:xfrm>
            <a:off x="640080" y="4251960"/>
            <a:ext cx="10927080" cy="914400"/>
          </a:xfrm>
          <a:prstGeom prst="roundRect">
            <a:avLst>
              <a:gd name="adj" fmla="val 8000"/>
            </a:avLst>
          </a:prstGeom>
          <a:solidFill>
            <a:srgbClr val="F3E7EB"/>
          </a:solidFill>
          <a:ln/>
        </p:spPr>
      </p:sp>
      <p:sp>
        <p:nvSpPr>
          <p:cNvPr id="13" name="Shape 11"/>
          <p:cNvSpPr/>
          <p:nvPr/>
        </p:nvSpPr>
        <p:spPr>
          <a:xfrm>
            <a:off x="822960" y="4398264"/>
            <a:ext cx="2926080" cy="621792"/>
          </a:xfrm>
          <a:prstGeom prst="roundRect">
            <a:avLst>
              <a:gd name="adj" fmla="val 8824"/>
            </a:avLst>
          </a:prstGeom>
          <a:solidFill>
            <a:srgbClr val="8A2340"/>
          </a:solidFill>
          <a:ln/>
        </p:spPr>
      </p:sp>
      <p:sp>
        <p:nvSpPr>
          <p:cNvPr id="14" name="Text 12"/>
          <p:cNvSpPr/>
          <p:nvPr/>
        </p:nvSpPr>
        <p:spPr>
          <a:xfrm>
            <a:off x="822960" y="4398264"/>
            <a:ext cx="292608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季節・年中行事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3977640" y="4251960"/>
            <a:ext cx="73152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23232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梅（早春）・例大祭（秋）</a:t>
            </a:r>
            <a:endParaRPr lang="en-US" sz="1550" dirty="0"/>
          </a:p>
        </p:txBody>
      </p:sp>
      <p:sp>
        <p:nvSpPr>
          <p:cNvPr id="16" name="Text 14"/>
          <p:cNvSpPr/>
          <p:nvPr/>
        </p:nvSpPr>
        <p:spPr>
          <a:xfrm>
            <a:off x="658368" y="544068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8A234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→ 初詣以外にも、楽しめる魅力がこれだけある。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640080" y="640080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町田天満宮 探究レポート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10911535" y="6400800"/>
            <a:ext cx="1005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7 / 12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8A234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4. 分析・考察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640080" y="914400"/>
            <a:ext cx="10972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23232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なぜ、通年で活かされていないのか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658368" y="2103120"/>
            <a:ext cx="109728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03200" indent="-203200">
              <a:lnSpc>
                <a:spcPct val="125000"/>
              </a:lnSpc>
              <a:spcAft>
                <a:spcPts val="800"/>
              </a:spcAft>
              <a:buSzPct val="100000"/>
              <a:buChar char="•"/>
            </a:pPr>
            <a:r>
              <a:rPr lang="en-US" sz="1650" dirty="0">
                <a:solidFill>
                  <a:srgbClr val="23232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初詣と例大祭は広く知られており、実際に多くの人を集めている。</a:t>
            </a:r>
            <a:endParaRPr lang="en-US" sz="1650" dirty="0"/>
          </a:p>
          <a:p>
            <a:pPr marL="203200" indent="-203200">
              <a:lnSpc>
                <a:spcPct val="125000"/>
              </a:lnSpc>
              <a:spcAft>
                <a:spcPts val="800"/>
              </a:spcAft>
              <a:buSzPct val="100000"/>
              <a:buChar char="•"/>
            </a:pPr>
            <a:r>
              <a:rPr lang="en-US" sz="1650" dirty="0">
                <a:solidFill>
                  <a:srgbClr val="23232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一方で、撫で牛や毎月の骨董市などは、地域住民にも十分に知られていない。</a:t>
            </a:r>
            <a:endParaRPr lang="en-US" sz="1650" dirty="0"/>
          </a:p>
          <a:p>
            <a:pPr marL="203200" indent="-203200">
              <a:lnSpc>
                <a:spcPct val="125000"/>
              </a:lnSpc>
              <a:spcAft>
                <a:spcPts val="800"/>
              </a:spcAft>
              <a:buSzPct val="100000"/>
              <a:buChar char="•"/>
            </a:pPr>
            <a:r>
              <a:rPr lang="en-US" sz="1650" dirty="0">
                <a:solidFill>
                  <a:srgbClr val="23232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身近な魅力であるほど、あらためて発信される機会が少ない（＝灯台下暗し）。</a:t>
            </a:r>
            <a:endParaRPr lang="en-US" sz="1650" dirty="0"/>
          </a:p>
        </p:txBody>
      </p:sp>
      <p:sp>
        <p:nvSpPr>
          <p:cNvPr id="5" name="Shape 3"/>
          <p:cNvSpPr/>
          <p:nvPr/>
        </p:nvSpPr>
        <p:spPr>
          <a:xfrm>
            <a:off x="640080" y="5029200"/>
            <a:ext cx="10927080" cy="960120"/>
          </a:xfrm>
          <a:prstGeom prst="roundRect">
            <a:avLst>
              <a:gd name="adj" fmla="val 7619"/>
            </a:avLst>
          </a:prstGeom>
          <a:solidFill>
            <a:srgbClr val="B58A2E"/>
          </a:solidFill>
          <a:ln/>
        </p:spPr>
      </p:sp>
      <p:sp>
        <p:nvSpPr>
          <p:cNvPr id="6" name="Text 4"/>
          <p:cNvSpPr/>
          <p:nvPr/>
        </p:nvSpPr>
        <p:spPr>
          <a:xfrm>
            <a:off x="868680" y="5029200"/>
            <a:ext cx="1042416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A2C0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考察：通年で活かされない主な要因は、魅力が「知られていない」ことにある。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640080" y="640080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町田天満宮 探究レポート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10911535" y="6400800"/>
            <a:ext cx="1005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8 / 12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8A234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5. 提案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640080" y="914400"/>
            <a:ext cx="10972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23232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地域の人に、そっと思い出してもらう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640080" y="2148840"/>
            <a:ext cx="10927080" cy="1051560"/>
          </a:xfrm>
          <a:prstGeom prst="roundRect">
            <a:avLst>
              <a:gd name="adj" fmla="val 6957"/>
            </a:avLst>
          </a:prstGeom>
          <a:solidFill>
            <a:srgbClr val="F3E7EB"/>
          </a:solidFill>
          <a:ln/>
        </p:spPr>
      </p:sp>
      <p:sp>
        <p:nvSpPr>
          <p:cNvPr id="5" name="Text 3"/>
          <p:cNvSpPr/>
          <p:nvPr/>
        </p:nvSpPr>
        <p:spPr>
          <a:xfrm>
            <a:off x="914400" y="2148840"/>
            <a:ext cx="283464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8A234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① 月替わりで発信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3840480" y="2258568"/>
            <a:ext cx="740664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50" dirty="0">
                <a:solidFill>
                  <a:srgbClr val="23232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校内の掲示やポスターで、町田天満宮の“知られざる魅力”（撫で牛・木うそ・梅など）を、月替わりで少しずつ紹介する。</a:t>
            </a:r>
            <a:endParaRPr lang="en-US" sz="1450" dirty="0"/>
          </a:p>
        </p:txBody>
      </p:sp>
      <p:sp>
        <p:nvSpPr>
          <p:cNvPr id="7" name="Shape 5"/>
          <p:cNvSpPr/>
          <p:nvPr/>
        </p:nvSpPr>
        <p:spPr>
          <a:xfrm>
            <a:off x="640080" y="3383280"/>
            <a:ext cx="10927080" cy="1051560"/>
          </a:xfrm>
          <a:prstGeom prst="roundRect">
            <a:avLst>
              <a:gd name="adj" fmla="val 6957"/>
            </a:avLst>
          </a:prstGeom>
          <a:solidFill>
            <a:srgbClr val="F3E7EB"/>
          </a:solidFill>
          <a:ln/>
        </p:spPr>
      </p:sp>
      <p:sp>
        <p:nvSpPr>
          <p:cNvPr id="8" name="Text 6"/>
          <p:cNvSpPr/>
          <p:nvPr/>
        </p:nvSpPr>
        <p:spPr>
          <a:xfrm>
            <a:off x="914400" y="3383280"/>
            <a:ext cx="283464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8A234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② 行きどきを伝える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3840480" y="3493008"/>
            <a:ext cx="740664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50" dirty="0">
                <a:solidFill>
                  <a:srgbClr val="23232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毎月1日の骨董市、梅の季節、例大祭など、もともとある見どころや行事を、地域にさりげなく知らせる。</a:t>
            </a:r>
            <a:endParaRPr lang="en-US" sz="1450" dirty="0"/>
          </a:p>
        </p:txBody>
      </p:sp>
      <p:sp>
        <p:nvSpPr>
          <p:cNvPr id="10" name="Shape 8"/>
          <p:cNvSpPr/>
          <p:nvPr/>
        </p:nvSpPr>
        <p:spPr>
          <a:xfrm>
            <a:off x="640080" y="4617720"/>
            <a:ext cx="10927080" cy="1051560"/>
          </a:xfrm>
          <a:prstGeom prst="roundRect">
            <a:avLst>
              <a:gd name="adj" fmla="val 6957"/>
            </a:avLst>
          </a:prstGeom>
          <a:solidFill>
            <a:srgbClr val="F3E7EB"/>
          </a:solidFill>
          <a:ln/>
        </p:spPr>
      </p:sp>
      <p:sp>
        <p:nvSpPr>
          <p:cNvPr id="11" name="Text 9"/>
          <p:cNvSpPr/>
          <p:nvPr/>
        </p:nvSpPr>
        <p:spPr>
          <a:xfrm>
            <a:off x="914400" y="4617720"/>
            <a:ext cx="283464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8A234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③ イベントは作らない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3840480" y="4727448"/>
            <a:ext cx="740664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50" dirty="0">
                <a:solidFill>
                  <a:srgbClr val="23232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派手なことはせず、「既にある魅力を知ってもらう」ことに徹する。神社の静けさも大切にする。</a:t>
            </a:r>
            <a:endParaRPr lang="en-US" sz="1450" dirty="0"/>
          </a:p>
        </p:txBody>
      </p:sp>
      <p:sp>
        <p:nvSpPr>
          <p:cNvPr id="13" name="Text 11"/>
          <p:cNvSpPr/>
          <p:nvPr/>
        </p:nvSpPr>
        <p:spPr>
          <a:xfrm>
            <a:off x="640080" y="640080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町田天満宮 探究レポート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10911535" y="6400800"/>
            <a:ext cx="1005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9 / 12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8A234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6. 期待される効果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640080" y="914400"/>
            <a:ext cx="10972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23232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提案によって、期待できること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658368" y="2103120"/>
            <a:ext cx="109728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03200" indent="-203200">
              <a:lnSpc>
                <a:spcPct val="125000"/>
              </a:lnSpc>
              <a:spcAft>
                <a:spcPts val="800"/>
              </a:spcAft>
              <a:buSzPct val="100000"/>
              <a:buChar char="•"/>
            </a:pPr>
            <a:r>
              <a:rPr lang="en-US" sz="1650" dirty="0">
                <a:solidFill>
                  <a:srgbClr val="23232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初詣頼みでなく、ふだんから一定の人が参拝に訪れるようになる。</a:t>
            </a:r>
            <a:endParaRPr lang="en-US" sz="1650" dirty="0"/>
          </a:p>
          <a:p>
            <a:pPr marL="203200" indent="-203200">
              <a:lnSpc>
                <a:spcPct val="125000"/>
              </a:lnSpc>
              <a:spcAft>
                <a:spcPts val="800"/>
              </a:spcAft>
              <a:buSzPct val="100000"/>
              <a:buChar char="•"/>
            </a:pPr>
            <a:r>
              <a:rPr lang="en-US" sz="1650" dirty="0">
                <a:solidFill>
                  <a:srgbClr val="23232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地域住民が、身近な魅力をあらためて意識するようになる（再発見）。</a:t>
            </a:r>
            <a:endParaRPr lang="en-US" sz="1650" dirty="0"/>
          </a:p>
          <a:p>
            <a:pPr marL="203200" indent="-203200">
              <a:lnSpc>
                <a:spcPct val="125000"/>
              </a:lnSpc>
              <a:spcAft>
                <a:spcPts val="800"/>
              </a:spcAft>
              <a:buSzPct val="100000"/>
              <a:buChar char="•"/>
            </a:pPr>
            <a:r>
              <a:rPr lang="en-US" sz="1650" dirty="0">
                <a:solidFill>
                  <a:srgbClr val="23232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もともとある骨董市や例大祭にも、足を運ぶ人が増える。</a:t>
            </a:r>
            <a:endParaRPr lang="en-US" sz="1650" dirty="0"/>
          </a:p>
          <a:p>
            <a:pPr marL="203200" indent="-203200">
              <a:lnSpc>
                <a:spcPct val="125000"/>
              </a:lnSpc>
              <a:spcAft>
                <a:spcPts val="800"/>
              </a:spcAft>
              <a:buSzPct val="100000"/>
              <a:buChar char="•"/>
            </a:pPr>
            <a:r>
              <a:rPr lang="en-US" sz="1650" dirty="0">
                <a:solidFill>
                  <a:srgbClr val="23232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地域への愛着や、世代を超えた交流につながる。</a:t>
            </a:r>
            <a:endParaRPr lang="en-US" sz="1650" dirty="0"/>
          </a:p>
        </p:txBody>
      </p:sp>
      <p:sp>
        <p:nvSpPr>
          <p:cNvPr id="5" name="Text 3"/>
          <p:cNvSpPr/>
          <p:nvPr/>
        </p:nvSpPr>
        <p:spPr>
          <a:xfrm>
            <a:off x="640080" y="640080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町田天満宮 探究レポート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10911535" y="6400800"/>
            <a:ext cx="1005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10 / 12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8A234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7. SDGsとのつながり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640080" y="914400"/>
            <a:ext cx="10972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23232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この取り組みと、SDGsの目標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640080" y="2103120"/>
            <a:ext cx="10927080" cy="1691640"/>
          </a:xfrm>
          <a:prstGeom prst="roundRect">
            <a:avLst>
              <a:gd name="adj" fmla="val 5405"/>
            </a:avLst>
          </a:prstGeom>
          <a:solidFill>
            <a:srgbClr val="F3E7EB"/>
          </a:solidFill>
          <a:ln/>
        </p:spPr>
      </p:sp>
      <p:pic>
        <p:nvPicPr>
          <p:cNvPr id="5" name="Image 0" descr="img/sdg1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68680" y="2304288"/>
            <a:ext cx="1280160" cy="128016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2514600" y="2377440"/>
            <a:ext cx="8869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3232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住み続けられるまちづくりを</a:t>
            </a:r>
            <a:endParaRPr lang="en-US" sz="1700" dirty="0"/>
          </a:p>
        </p:txBody>
      </p:sp>
      <p:sp>
        <p:nvSpPr>
          <p:cNvPr id="7" name="Text 4"/>
          <p:cNvSpPr/>
          <p:nvPr/>
        </p:nvSpPr>
        <p:spPr>
          <a:xfrm>
            <a:off x="2514600" y="2889504"/>
            <a:ext cx="886968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450" dirty="0">
                <a:solidFill>
                  <a:srgbClr val="55555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地域の宝である町田天満宮を守り、活かし、地域の人に親しまれる場所を保つことは、持続可能なまちづくりにつながる（特に「文化遺産の保護・活用」）。</a:t>
            </a:r>
            <a:endParaRPr lang="en-US" sz="1450" dirty="0"/>
          </a:p>
        </p:txBody>
      </p:sp>
      <p:sp>
        <p:nvSpPr>
          <p:cNvPr id="8" name="Shape 5"/>
          <p:cNvSpPr/>
          <p:nvPr/>
        </p:nvSpPr>
        <p:spPr>
          <a:xfrm>
            <a:off x="640080" y="3977640"/>
            <a:ext cx="10927080" cy="1691640"/>
          </a:xfrm>
          <a:prstGeom prst="roundRect">
            <a:avLst>
              <a:gd name="adj" fmla="val 5405"/>
            </a:avLst>
          </a:prstGeom>
          <a:solidFill>
            <a:srgbClr val="F3E7EB"/>
          </a:solidFill>
          <a:ln/>
        </p:spPr>
      </p:sp>
      <p:pic>
        <p:nvPicPr>
          <p:cNvPr id="9" name="Image 1" descr="img/sdg3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" y="4178808"/>
            <a:ext cx="1280160" cy="1280160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2514600" y="4251960"/>
            <a:ext cx="8869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3232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すべての人に健康と福祉を</a:t>
            </a:r>
            <a:endParaRPr lang="en-US" sz="1700" dirty="0"/>
          </a:p>
        </p:txBody>
      </p:sp>
      <p:sp>
        <p:nvSpPr>
          <p:cNvPr id="11" name="Text 7"/>
          <p:cNvSpPr/>
          <p:nvPr/>
        </p:nvSpPr>
        <p:spPr>
          <a:xfrm>
            <a:off x="2514600" y="4764024"/>
            <a:ext cx="886968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450" dirty="0">
                <a:solidFill>
                  <a:srgbClr val="55555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地域に“居場所”があることは、世代を超えた交流や生きがいを生み、住民の心の健康を支える。</a:t>
            </a:r>
            <a:endParaRPr lang="en-US" sz="1450" dirty="0"/>
          </a:p>
        </p:txBody>
      </p:sp>
      <p:sp>
        <p:nvSpPr>
          <p:cNvPr id="12" name="Text 8"/>
          <p:cNvSpPr/>
          <p:nvPr/>
        </p:nvSpPr>
        <p:spPr>
          <a:xfrm>
            <a:off x="640080" y="640080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町田天満宮 探究レポート</a:t>
            </a:r>
            <a:endParaRPr lang="en-US" sz="1000" dirty="0"/>
          </a:p>
        </p:txBody>
      </p:sp>
      <p:sp>
        <p:nvSpPr>
          <p:cNvPr id="13" name="Text 9"/>
          <p:cNvSpPr/>
          <p:nvPr/>
        </p:nvSpPr>
        <p:spPr>
          <a:xfrm>
            <a:off x="10911535" y="6400800"/>
            <a:ext cx="1005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11 / 12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4C14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B58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まとめ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640080" y="1371600"/>
            <a:ext cx="859536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29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町田天満宮は、一年を通して楽しめる</a:t>
            </a:r>
            <a:endParaRPr lang="en-US" sz="29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9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魅力を備えている。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658368" y="3154680"/>
            <a:ext cx="850392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600" dirty="0">
                <a:solidFill>
                  <a:srgbClr val="E7C6D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課題は「参拝が特定の時期に偏っていること」であり、その主な要因は「魅力が知られていないこと」であった。派手なことをせずとも、私たち住民が既存の魅力を地道に発信することで、ふだんから親しまれる神社にしていけると考える。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5074920"/>
            <a:ext cx="8503920" cy="914400"/>
          </a:xfrm>
          <a:prstGeom prst="roundRect">
            <a:avLst>
              <a:gd name="adj" fmla="val 10000"/>
            </a:avLst>
          </a:prstGeom>
          <a:solidFill>
            <a:srgbClr val="B58A2E"/>
          </a:solidFill>
          <a:ln/>
        </p:spPr>
      </p:sp>
      <p:sp>
        <p:nvSpPr>
          <p:cNvPr id="6" name="Text 4"/>
          <p:cNvSpPr/>
          <p:nvPr/>
        </p:nvSpPr>
        <p:spPr>
          <a:xfrm>
            <a:off x="841248" y="5074920"/>
            <a:ext cx="81381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3A2C0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まず私たち自身が、ふだんの町田天満宮に足を運ぶことから始めたい。</a:t>
            </a:r>
            <a:endParaRPr lang="en-US" sz="1650" dirty="0"/>
          </a:p>
        </p:txBody>
      </p:sp>
      <p:sp>
        <p:nvSpPr>
          <p:cNvPr id="7" name="Shape 5"/>
          <p:cNvSpPr/>
          <p:nvPr/>
        </p:nvSpPr>
        <p:spPr>
          <a:xfrm>
            <a:off x="9326880" y="1325880"/>
            <a:ext cx="2651760" cy="4169664"/>
          </a:xfrm>
          <a:prstGeom prst="roundRect">
            <a:avLst>
              <a:gd name="adj" fmla="val 2759"/>
            </a:avLst>
          </a:prstGeom>
          <a:solidFill>
            <a:srgbClr val="FFFFFF"/>
          </a:solidFill>
          <a:ln/>
        </p:spPr>
      </p:sp>
      <p:pic>
        <p:nvPicPr>
          <p:cNvPr id="8" name="Image 0" descr="img/uso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9464040" y="1463040"/>
            <a:ext cx="2377440" cy="3895344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9189720" y="5596128"/>
            <a:ext cx="2926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C9A9B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▲ 実際に買った「木うそ」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640080" y="640080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79AA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町田天満宮 探究レポート</a:t>
            </a:r>
            <a:endParaRPr lang="en-US" sz="1000" dirty="0"/>
          </a:p>
        </p:txBody>
      </p:sp>
      <p:sp>
        <p:nvSpPr>
          <p:cNvPr id="11" name="Text 8"/>
          <p:cNvSpPr/>
          <p:nvPr/>
        </p:nvSpPr>
        <p:spPr>
          <a:xfrm>
            <a:off x="10911535" y="6400800"/>
            <a:ext cx="1005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B79AA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12 / 12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町田天満宮 探究レポート（v6・しっかり版）</dc:title>
  <dc:subject>PptxGenJS Presentation</dc:subject>
  <dc:creator>総合学習 発表班</dc:creator>
  <cp:lastModifiedBy>総合学習 発表班</cp:lastModifiedBy>
  <cp:revision>1</cp:revision>
  <dcterms:created xsi:type="dcterms:W3CDTF">2026-07-05T09:40:48Z</dcterms:created>
  <dcterms:modified xsi:type="dcterms:W3CDTF">2026-07-05T09:40:48Z</dcterms:modified>
</cp:coreProperties>
</file>