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4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191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040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u="sng" dirty="0" err="1">
                <a:solidFill>
                  <a:srgbClr val="1F3864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Meiryo" pitchFamily="34" charset="-120"/>
              </a:rPr>
              <a:t>町田天満宮</a:t>
            </a:r>
            <a:r>
              <a:rPr lang="ja-JP" altLang="en-US" sz="3200" b="1" u="sng" dirty="0">
                <a:solidFill>
                  <a:srgbClr val="1F3864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Meiryo" pitchFamily="34" charset="-120"/>
              </a:rPr>
              <a:t>に人が来るように</a:t>
            </a:r>
            <a:endParaRPr lang="en-US" altLang="ja-JP" sz="3200" b="1" u="sng" dirty="0">
              <a:solidFill>
                <a:srgbClr val="1F3864"/>
              </a:solidFill>
              <a:latin typeface="BIZ UDゴシック" panose="020B0400000000000000" pitchFamily="49" charset="-128"/>
              <a:ea typeface="BIZ UDゴシック" panose="020B0400000000000000" pitchFamily="49" charset="-128"/>
              <a:cs typeface="Meiryo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ja-JP" altLang="en-US" sz="3200" b="1" u="sng" dirty="0">
                <a:solidFill>
                  <a:srgbClr val="1F3864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Meiryo" pitchFamily="34" charset="-120"/>
              </a:rPr>
              <a:t>するには？</a:t>
            </a:r>
            <a:endParaRPr lang="en-US" sz="3200" u="sng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9808" y="50292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　組　　班　（メンバー：　　　・　　　・　　　・　　　・　　　・　　　）</a:t>
            </a:r>
            <a:endParaRPr lang="en-US" sz="1400" dirty="0"/>
          </a:p>
        </p:txBody>
      </p:sp>
      <p:pic>
        <p:nvPicPr>
          <p:cNvPr id="5" name="Image 0" descr="img/cove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46720" y="1371600"/>
            <a:ext cx="35204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6562" y="62657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u="sng" dirty="0" err="1">
                <a:solidFill>
                  <a:srgbClr val="1F3864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Meiryo" pitchFamily="34" charset="-120"/>
              </a:rPr>
              <a:t>ふだんの町田天満宮</a:t>
            </a:r>
            <a:r>
              <a:rPr lang="ja-JP" altLang="en-US" sz="2600" b="1" u="sng" dirty="0">
                <a:solidFill>
                  <a:srgbClr val="1F3864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Meiryo" pitchFamily="34" charset="-120"/>
              </a:rPr>
              <a:t>はどうなっているか</a:t>
            </a:r>
            <a:endParaRPr lang="en-US" sz="2600" b="1" u="sng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6949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 err="1">
                <a:latin typeface="Meiryo" pitchFamily="34" charset="0"/>
                <a:ea typeface="Meiryo" pitchFamily="34" charset="-122"/>
                <a:cs typeface="Meiryo" pitchFamily="34" charset="-120"/>
              </a:rPr>
              <a:t>町田天満宮は、学問の神様・菅原道真をまつっている神社です</a:t>
            </a:r>
            <a:r>
              <a:rPr lang="en-US" sz="1550" dirty="0"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550" dirty="0"/>
          </a:p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 err="1">
                <a:latin typeface="Meiryo" pitchFamily="34" charset="0"/>
                <a:ea typeface="Meiryo" pitchFamily="34" charset="-122"/>
                <a:cs typeface="Meiryo" pitchFamily="34" charset="-120"/>
              </a:rPr>
              <a:t>人が</a:t>
            </a:r>
            <a:r>
              <a:rPr lang="ja-JP" altLang="en-US" sz="1550" dirty="0">
                <a:latin typeface="Meiryo" pitchFamily="34" charset="0"/>
                <a:ea typeface="Meiryo" pitchFamily="34" charset="-122"/>
                <a:cs typeface="Meiryo" pitchFamily="34" charset="-120"/>
              </a:rPr>
              <a:t>たくさん来る</a:t>
            </a:r>
            <a:r>
              <a:rPr lang="en-US" sz="1550" dirty="0">
                <a:latin typeface="Meiryo" pitchFamily="34" charset="0"/>
                <a:ea typeface="Meiryo" pitchFamily="34" charset="-122"/>
                <a:cs typeface="Meiryo" pitchFamily="34" charset="-120"/>
              </a:rPr>
              <a:t>のは、初詣（1月）と例大祭（秋）の</a:t>
            </a:r>
            <a:r>
              <a:rPr lang="ja-JP" altLang="en-US" sz="1550" dirty="0">
                <a:latin typeface="Meiryo" pitchFamily="34" charset="0"/>
                <a:ea typeface="Meiryo" pitchFamily="34" charset="-122"/>
                <a:cs typeface="Meiryo" pitchFamily="34" charset="-120"/>
              </a:rPr>
              <a:t>時</a:t>
            </a:r>
            <a:r>
              <a:rPr lang="en-US" sz="1550" dirty="0">
                <a:latin typeface="Meiryo" pitchFamily="34" charset="0"/>
                <a:ea typeface="Meiryo" pitchFamily="34" charset="-122"/>
                <a:cs typeface="Meiryo" pitchFamily="34" charset="-120"/>
              </a:rPr>
              <a:t>くらいです。</a:t>
            </a:r>
            <a:endParaRPr lang="en-US" sz="1550" dirty="0"/>
          </a:p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ja-JP" altLang="en-US" sz="1550" dirty="0">
                <a:latin typeface="Meiryo" pitchFamily="34" charset="0"/>
                <a:ea typeface="Meiryo" pitchFamily="34" charset="-122"/>
                <a:cs typeface="Meiryo" pitchFamily="34" charset="-120"/>
              </a:rPr>
              <a:t>普通</a:t>
            </a:r>
            <a:r>
              <a:rPr lang="en-US" sz="1550" dirty="0" err="1">
                <a:latin typeface="Meiryo" pitchFamily="34" charset="0"/>
                <a:ea typeface="Meiryo" pitchFamily="34" charset="-122"/>
                <a:cs typeface="Meiryo" pitchFamily="34" charset="-120"/>
              </a:rPr>
              <a:t>の日に行ってみると、写真のように人がほとんどいませんでした</a:t>
            </a:r>
            <a:r>
              <a:rPr lang="en-US" sz="15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4937760"/>
            <a:ext cx="6949440" cy="105156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68680" y="4937760"/>
            <a:ext cx="6583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 err="1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</a:t>
            </a:r>
            <a:r>
              <a:rPr lang="en-US" sz="145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</a:t>
            </a:r>
            <a:r>
              <a:rPr lang="en-US" sz="1450" b="1" dirty="0" err="1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初詣</a:t>
            </a:r>
            <a:r>
              <a:rPr lang="ja-JP" altLang="en-US" sz="14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以外</a:t>
            </a:r>
            <a:r>
              <a:rPr lang="en-US" sz="14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の日にも、どうすれば人に来てもらえるか</a:t>
            </a:r>
            <a:r>
              <a:rPr lang="ja-JP" altLang="en-US" sz="14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？</a:t>
            </a:r>
            <a:endParaRPr lang="en-US" sz="1450" dirty="0"/>
          </a:p>
        </p:txBody>
      </p:sp>
      <p:pic>
        <p:nvPicPr>
          <p:cNvPr id="7" name="Image 0" descr="img/empty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55280" y="2103120"/>
            <a:ext cx="3657600" cy="274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ふだんの町田天満宮（自分たちで撮影）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8352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600" b="1" u="sng" dirty="0">
                <a:solidFill>
                  <a:srgbClr val="1F3864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Meiryo" pitchFamily="34" charset="-120"/>
              </a:rPr>
              <a:t>初詣の混雑具合</a:t>
            </a:r>
            <a:endParaRPr lang="en-US" sz="2600" u="sng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6766560" cy="3977640"/>
          </a:xfrm>
          <a:prstGeom prst="rect">
            <a:avLst/>
          </a:prstGeom>
          <a:solidFill>
            <a:srgbClr val="F1F1F1"/>
          </a:solidFill>
          <a:ln w="12700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6492240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［ 初詣の混み具合グラフ を貼る ］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時間ごとの混み具合（自分たちで調査）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2103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グラフか</a:t>
            </a:r>
            <a:r>
              <a:rPr lang="ja-JP" altLang="en-US" sz="15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ら分かったこと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399" y="2606040"/>
            <a:ext cx="419792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 err="1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初詣</a:t>
            </a:r>
            <a:r>
              <a:rPr lang="ja-JP" alt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だけ</a:t>
            </a:r>
            <a:r>
              <a:rPr lang="en-US" sz="1500" dirty="0" err="1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はどの時間もとても混んでいます</a:t>
            </a: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500" dirty="0"/>
          </a:p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初詣以外は</a:t>
            </a:r>
            <a:r>
              <a:rPr lang="en-US" sz="1500" dirty="0" err="1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がらがらです</a:t>
            </a: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15389" y="87512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600" b="1" u="sng" dirty="0">
                <a:solidFill>
                  <a:srgbClr val="1F3864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町田天満宮の魅力</a:t>
            </a:r>
            <a:endParaRPr lang="en-US" sz="2600" u="sng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20574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r>
              <a:rPr lang="ja-JP" altLang="en-US" sz="15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勉強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441448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 err="1">
                <a:solidFill>
                  <a:srgbClr val="22222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学問の神様・菅原道真の神社です。牛の像「撫で牛」は、なでると賢くなるといわれ</a:t>
            </a:r>
            <a:r>
              <a:rPr lang="ja-JP" altLang="en-US" sz="1600" dirty="0">
                <a:solidFill>
                  <a:srgbClr val="22222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てい</a:t>
            </a:r>
            <a:r>
              <a:rPr lang="en-US" sz="1600" dirty="0" err="1">
                <a:solidFill>
                  <a:srgbClr val="22222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ます</a:t>
            </a:r>
            <a:r>
              <a:rPr lang="en-US" sz="1600" dirty="0">
                <a:solidFill>
                  <a:srgbClr val="22222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。</a:t>
            </a:r>
            <a:endParaRPr lang="en-US" sz="1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675410" y="32918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r>
              <a:rPr lang="ja-JP" altLang="en-US" sz="1500" b="1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3675888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町田駅から歩いて10分、「</a:t>
            </a:r>
            <a:r>
              <a:rPr lang="en-US" sz="1600" dirty="0" err="1">
                <a:solidFill>
                  <a:srgbClr val="22222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参宮橋</a:t>
            </a:r>
            <a:r>
              <a:rPr lang="en-US" sz="1600" dirty="0">
                <a:solidFill>
                  <a:srgbClr val="22222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」</a:t>
            </a:r>
            <a:r>
              <a:rPr lang="ja-JP" altLang="en-US" sz="1600" dirty="0">
                <a:solidFill>
                  <a:srgbClr val="22222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（さんぐうばし）があって</a:t>
            </a:r>
            <a:r>
              <a:rPr lang="en-US" sz="1600" dirty="0" err="1">
                <a:solidFill>
                  <a:srgbClr val="22222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行きやすいです</a:t>
            </a:r>
            <a:r>
              <a:rPr lang="en-US" sz="1600" dirty="0">
                <a:solidFill>
                  <a:srgbClr val="22222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。</a:t>
            </a:r>
            <a:endParaRPr lang="en-US" sz="1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5186097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r>
              <a:rPr lang="en-US" sz="1500" b="1" dirty="0" err="1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5570145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毎月1日の骨董市（レトロ</a:t>
            </a:r>
            <a:r>
              <a:rPr lang="ja-JP" altLang="en-US" sz="1600" dirty="0">
                <a:solidFill>
                  <a:srgbClr val="22222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な品物</a:t>
            </a:r>
            <a:r>
              <a:rPr lang="en-US" sz="1600" dirty="0" err="1">
                <a:solidFill>
                  <a:srgbClr val="22222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が並</a:t>
            </a:r>
            <a:r>
              <a:rPr lang="ja-JP" altLang="en-US" sz="1600" dirty="0">
                <a:solidFill>
                  <a:srgbClr val="22222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びます</a:t>
            </a:r>
            <a:r>
              <a:rPr lang="en-US" sz="1600" dirty="0">
                <a:solidFill>
                  <a:srgbClr val="22222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）、</a:t>
            </a:r>
            <a:r>
              <a:rPr lang="en-US" sz="1600" dirty="0" err="1">
                <a:solidFill>
                  <a:srgbClr val="22222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秋の例大祭、七福神の恵比寿</a:t>
            </a:r>
            <a:r>
              <a:rPr lang="ja-JP" altLang="en-US" sz="1600" dirty="0">
                <a:solidFill>
                  <a:srgbClr val="22222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（えびす）様</a:t>
            </a:r>
            <a:r>
              <a:rPr lang="en-US" sz="1600" dirty="0" err="1">
                <a:solidFill>
                  <a:srgbClr val="22222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もあります</a:t>
            </a:r>
            <a:r>
              <a:rPr lang="en-US" sz="1600" dirty="0">
                <a:solidFill>
                  <a:srgbClr val="22222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。</a:t>
            </a:r>
            <a:endParaRPr lang="en-US" sz="1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pic>
        <p:nvPicPr>
          <p:cNvPr id="10" name="Image 0" descr="img/ushi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3840" y="2148840"/>
            <a:ext cx="1828800" cy="24414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863840" y="46268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撫で牛</a:t>
            </a:r>
            <a:endParaRPr lang="en-US" sz="1100" dirty="0"/>
          </a:p>
        </p:txBody>
      </p:sp>
      <p:pic>
        <p:nvPicPr>
          <p:cNvPr id="12" name="Image 1" descr="img/bridge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84080" y="2148840"/>
            <a:ext cx="1828800" cy="2441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784080" y="46268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参宮橋</a:t>
            </a:r>
            <a:endParaRPr lang="en-US" sz="11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2033E315-D609-8618-7D69-92C7EF8023F9}"/>
              </a:ext>
            </a:extLst>
          </p:cNvPr>
          <p:cNvSpPr/>
          <p:nvPr/>
        </p:nvSpPr>
        <p:spPr>
          <a:xfrm>
            <a:off x="675410" y="4310366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r>
              <a:rPr lang="en-US" sz="1500" b="1" dirty="0" err="1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歴史</a:t>
            </a:r>
            <a:endParaRPr lang="en-US" sz="150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37BDCB18-7F7C-D1C9-B4BF-937A1A697592}"/>
              </a:ext>
            </a:extLst>
          </p:cNvPr>
          <p:cNvSpPr/>
          <p:nvPr/>
        </p:nvSpPr>
        <p:spPr>
          <a:xfrm>
            <a:off x="1005840" y="4626036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安土桃山時代からの440年以上の歴史があります。</a:t>
            </a:r>
            <a:endParaRPr lang="en-US" sz="1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3043" y="827117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600" b="1" u="sng" dirty="0">
                <a:solidFill>
                  <a:srgbClr val="1F3864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なぜ、ふ</a:t>
            </a:r>
            <a:r>
              <a:rPr lang="en-US" sz="2600" b="1" u="sng" dirty="0" err="1">
                <a:solidFill>
                  <a:srgbClr val="1F3864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だんは人が来ないのか</a:t>
            </a:r>
            <a:endParaRPr lang="en-US" sz="2600" u="sng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50" dirty="0" err="1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初詣と例大祭は、よく知られている</a:t>
            </a:r>
            <a:r>
              <a:rPr lang="ja-JP" altLang="en-US" sz="16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ため</a:t>
            </a:r>
            <a:r>
              <a:rPr lang="en-US" sz="1650" dirty="0" err="1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たくさん人が来</a:t>
            </a:r>
            <a:r>
              <a:rPr lang="ja-JP" altLang="en-US" sz="16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る</a:t>
            </a:r>
            <a:r>
              <a:rPr lang="en-US" sz="16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650" dirty="0"/>
          </a:p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50" dirty="0" err="1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でも、撫で牛や毎月の骨董市</a:t>
            </a:r>
            <a:r>
              <a:rPr lang="ja-JP" altLang="en-US" sz="16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とかはあまり</a:t>
            </a:r>
            <a:r>
              <a:rPr lang="en-US" sz="1650" dirty="0" err="1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知られて</a:t>
            </a:r>
            <a:r>
              <a:rPr lang="ja-JP" altLang="en-US" sz="16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いない</a:t>
            </a:r>
            <a:r>
              <a:rPr lang="en-US" sz="16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650" dirty="0"/>
          </a:p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50" dirty="0" err="1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身近にありすぎて</a:t>
            </a:r>
            <a:r>
              <a:rPr lang="ja-JP" altLang="en-US" sz="16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逆に</a:t>
            </a:r>
            <a:r>
              <a:rPr lang="en-US" sz="1650" dirty="0" err="1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気づ</a:t>
            </a:r>
            <a:r>
              <a:rPr lang="ja-JP" altLang="en-US" sz="16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いていない。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85800" y="4937760"/>
            <a:ext cx="10881360" cy="96012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493776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FF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ふだん人が来ない</a:t>
            </a:r>
            <a:r>
              <a:rPr lang="ja-JP" altLang="en-US" sz="1700" b="1" dirty="0">
                <a:solidFill>
                  <a:srgbClr val="FF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</a:t>
            </a:r>
            <a:r>
              <a:rPr lang="en-US" sz="1700" b="1" dirty="0">
                <a:solidFill>
                  <a:srgbClr val="FF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は、</a:t>
            </a:r>
            <a:r>
              <a:rPr lang="ja-JP" altLang="en-US" sz="1700" b="1" dirty="0">
                <a:solidFill>
                  <a:srgbClr val="FF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良いところ</a:t>
            </a:r>
            <a:r>
              <a:rPr lang="en-US" sz="1700" b="1" dirty="0">
                <a:solidFill>
                  <a:srgbClr val="FF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 </a:t>
            </a:r>
            <a:r>
              <a:rPr lang="en-US" sz="1700" b="1" dirty="0" err="1">
                <a:solidFill>
                  <a:srgbClr val="FF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知られていない</a:t>
            </a:r>
            <a:r>
              <a:rPr lang="en-US" sz="1700" b="1" dirty="0">
                <a:solidFill>
                  <a:srgbClr val="FF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ja-JP" altLang="en-US" sz="1700" b="1" dirty="0">
                <a:solidFill>
                  <a:srgbClr val="FF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から</a:t>
            </a:r>
            <a:r>
              <a:rPr lang="en-US" sz="1700" b="1" dirty="0" err="1">
                <a:solidFill>
                  <a:srgbClr val="FF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です</a:t>
            </a:r>
            <a:r>
              <a:rPr lang="en-US" sz="1700" b="1" dirty="0">
                <a:solidFill>
                  <a:srgbClr val="FF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7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25780" y="869719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600" b="1" u="sng" dirty="0">
                <a:solidFill>
                  <a:srgbClr val="1F3864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知ってもらったらどうなるか</a:t>
            </a:r>
            <a:endParaRPr lang="en-US" sz="2600" u="sng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10972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 err="1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初詣の</a:t>
            </a:r>
            <a:r>
              <a:rPr lang="ja-JP" altLang="en-US" sz="2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時以外にも</a:t>
            </a:r>
            <a:r>
              <a:rPr lang="en-US" sz="2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</a:t>
            </a:r>
            <a:r>
              <a:rPr lang="en-US" sz="2400" dirty="0" err="1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人が来てくれるようにな</a:t>
            </a:r>
            <a:r>
              <a:rPr lang="ja-JP" altLang="en-US" sz="2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る</a:t>
            </a:r>
            <a:r>
              <a:rPr lang="en-US" sz="2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400" dirty="0"/>
          </a:p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endParaRPr lang="en-US" sz="2400" dirty="0">
              <a:solidFill>
                <a:srgbClr val="222222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190500" indent="-1905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 err="1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骨董市や例大祭にも</a:t>
            </a:r>
            <a:r>
              <a:rPr lang="en-US" sz="2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</a:t>
            </a:r>
            <a:r>
              <a:rPr lang="ja-JP" altLang="en-US" sz="2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たくさん</a:t>
            </a:r>
            <a:r>
              <a:rPr lang="en-US" sz="2400" dirty="0" err="1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</a:t>
            </a:r>
            <a:r>
              <a:rPr lang="ja-JP" altLang="en-US" sz="2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来るようになる</a:t>
            </a:r>
            <a:r>
              <a:rPr lang="en-US" sz="2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400" dirty="0"/>
          </a:p>
          <a:p>
            <a:pPr>
              <a:lnSpc>
                <a:spcPct val="125000"/>
              </a:lnSpc>
              <a:spcAft>
                <a:spcPts val="800"/>
              </a:spcAft>
              <a:buSzPct val="100000"/>
            </a:pP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5895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600" b="1" u="sng" dirty="0">
                <a:solidFill>
                  <a:srgbClr val="1F3864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みんな</a:t>
            </a:r>
            <a:r>
              <a:rPr lang="ja-JP" altLang="en-US" sz="2600" b="1" u="sng" dirty="0">
                <a:solidFill>
                  <a:srgbClr val="1F3864"/>
                </a:solidFill>
                <a:latin typeface="MS UI Gothic" panose="020B0600070205080204" pitchFamily="50" charset="-128"/>
                <a:ea typeface="MS UI Gothic" panose="020B0600070205080204" pitchFamily="50" charset="-128"/>
                <a:cs typeface="Meiryo" pitchFamily="34" charset="-120"/>
              </a:rPr>
              <a:t>に知ってもらうことが大事</a:t>
            </a:r>
            <a:endParaRPr lang="en-US" sz="2600" u="sng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701040" y="2130137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20574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校内の</a:t>
            </a:r>
            <a:r>
              <a:rPr lang="ja-JP" altLang="en-US" sz="2400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掲示</a:t>
            </a:r>
            <a:r>
              <a:rPr lang="en-US" sz="2400" i="1" dirty="0" err="1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やポスターで</a:t>
            </a:r>
            <a:r>
              <a:rPr lang="ja-JP" altLang="en-US" sz="2400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町田天満宮のいいところ</a:t>
            </a:r>
            <a:r>
              <a:rPr lang="en-US" sz="2400" i="1" dirty="0" err="1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を紹介</a:t>
            </a:r>
            <a:r>
              <a:rPr lang="ja-JP" altLang="en-US" sz="2400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する</a:t>
            </a:r>
            <a:r>
              <a:rPr lang="en-US" sz="2400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400" i="1" dirty="0"/>
          </a:p>
        </p:txBody>
      </p:sp>
      <p:sp>
        <p:nvSpPr>
          <p:cNvPr id="6" name="Text 4"/>
          <p:cNvSpPr/>
          <p:nvPr/>
        </p:nvSpPr>
        <p:spPr>
          <a:xfrm>
            <a:off x="685800" y="3490929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3411543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 err="1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毎月の骨董市、梅の季節、例大祭</a:t>
            </a:r>
            <a:r>
              <a:rPr lang="ja-JP" altLang="en-US" sz="2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とかの</a:t>
            </a:r>
            <a:r>
              <a:rPr lang="en-US" sz="2400" dirty="0" err="1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お祭り</a:t>
            </a:r>
            <a:r>
              <a:rPr lang="ja-JP" altLang="en-US" sz="2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とか</a:t>
            </a:r>
            <a:r>
              <a:rPr lang="en-US" sz="2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ja-JP" altLang="en-US" sz="2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お知らせする</a:t>
            </a:r>
            <a:r>
              <a:rPr lang="en-US" sz="2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600" b="1" u="sng" dirty="0">
                <a:solidFill>
                  <a:srgbClr val="1F3864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Meiryo" pitchFamily="34" charset="-120"/>
              </a:rPr>
              <a:t>まとめ と メッセージ</a:t>
            </a:r>
            <a:endParaRPr lang="en-US" sz="2600" u="sng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7223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ja-JP" altLang="en-US" sz="16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町田天満宮の魅力があまり</a:t>
            </a:r>
            <a:r>
              <a:rPr lang="en-US" sz="1600" b="1" dirty="0" err="1">
                <a:solidFill>
                  <a:srgbClr val="FF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知られていないこと</a:t>
            </a:r>
            <a:r>
              <a:rPr lang="ja-JP" altLang="en-US" sz="16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が原因です</a:t>
            </a:r>
            <a:r>
              <a:rPr lang="en-US" sz="16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ja-JP" altLang="en-US" sz="16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まずは</a:t>
            </a:r>
            <a:r>
              <a:rPr lang="en-US" sz="1600" b="1" dirty="0" err="1">
                <a:latin typeface="Meiryo" pitchFamily="34" charset="0"/>
                <a:ea typeface="Meiryo" pitchFamily="34" charset="-122"/>
                <a:cs typeface="Meiryo" pitchFamily="34" charset="-120"/>
              </a:rPr>
              <a:t>私たちが少しずつ</a:t>
            </a:r>
            <a:r>
              <a:rPr lang="ja-JP" altLang="en-US" sz="16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良いところを伝えていけば</a:t>
            </a:r>
            <a:r>
              <a:rPr lang="en-US" sz="16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、</a:t>
            </a:r>
            <a:r>
              <a:rPr lang="ja-JP" altLang="en-US" sz="16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普段</a:t>
            </a:r>
            <a:r>
              <a:rPr lang="en-US" sz="1600" b="1" dirty="0" err="1">
                <a:latin typeface="Meiryo" pitchFamily="34" charset="0"/>
                <a:ea typeface="Meiryo" pitchFamily="34" charset="-122"/>
                <a:cs typeface="Meiryo" pitchFamily="34" charset="-120"/>
              </a:rPr>
              <a:t>から</a:t>
            </a:r>
            <a:r>
              <a:rPr lang="ja-JP" altLang="en-US" sz="16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人が来る</a:t>
            </a:r>
            <a:r>
              <a:rPr lang="en-US" sz="1600" b="1" dirty="0" err="1">
                <a:latin typeface="Meiryo" pitchFamily="34" charset="0"/>
                <a:ea typeface="Meiryo" pitchFamily="34" charset="-122"/>
                <a:cs typeface="Meiryo" pitchFamily="34" charset="-120"/>
              </a:rPr>
              <a:t>神社に</a:t>
            </a:r>
            <a:r>
              <a:rPr lang="ja-JP" altLang="en-US" sz="16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なると思います</a:t>
            </a:r>
            <a:r>
              <a:rPr lang="en-US" sz="16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600" b="1" dirty="0"/>
          </a:p>
        </p:txBody>
      </p:sp>
      <p:sp>
        <p:nvSpPr>
          <p:cNvPr id="5" name="Shape 3"/>
          <p:cNvSpPr/>
          <p:nvPr/>
        </p:nvSpPr>
        <p:spPr>
          <a:xfrm>
            <a:off x="685800" y="3657600"/>
            <a:ext cx="7223760" cy="914400"/>
          </a:xfrm>
          <a:prstGeom prst="rect">
            <a:avLst/>
          </a:prstGeom>
          <a:solidFill>
            <a:srgbClr val="F1F1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600" b="1" dirty="0">
                <a:solidFill>
                  <a:srgbClr val="1F3864"/>
                </a:solidFill>
                <a:latin typeface="Meiryo" pitchFamily="34" charset="0"/>
                <a:ea typeface="Meiryo" pitchFamily="34" charset="-122"/>
              </a:rPr>
              <a:t>ふだんの日に自分自身で行くということから始めたい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SDGsとのつながり</a:t>
            </a:r>
            <a:endParaRPr lang="en-US" sz="1300" dirty="0"/>
          </a:p>
        </p:txBody>
      </p:sp>
      <p:pic>
        <p:nvPicPr>
          <p:cNvPr id="8" name="Image 0" descr="img/sdg1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0" y="2286000"/>
            <a:ext cx="1417320" cy="1417320"/>
          </a:xfrm>
          <a:prstGeom prst="rect">
            <a:avLst/>
          </a:prstGeom>
        </p:spPr>
      </p:pic>
      <p:pic>
        <p:nvPicPr>
          <p:cNvPr id="9" name="Image 1" descr="img/sdg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241280" y="2286000"/>
            <a:ext cx="1417320" cy="1417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21040" y="393192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町の大切な場所を守ることは、まちづくりや、人のつながり・健康にもつながります。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321</Words>
  <Application>Microsoft Office PowerPoint</Application>
  <PresentationFormat>ワイド画面</PresentationFormat>
  <Paragraphs>55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5" baseType="lpstr">
      <vt:lpstr>BIZ UDゴシック</vt:lpstr>
      <vt:lpstr>ＭＳ Ｐゴシック</vt:lpstr>
      <vt:lpstr>MS UI Gothic</vt:lpstr>
      <vt:lpstr>ＭＳ ゴシック</vt:lpstr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町田天満宮 発表スライド（v9）</dc:title>
  <dc:subject>PptxGenJS Presentation</dc:subject>
  <dc:creator>総合学習 発表班</dc:creator>
  <cp:lastModifiedBy>総合学習 発表班</cp:lastModifiedBy>
  <cp:revision>64</cp:revision>
  <dcterms:created xsi:type="dcterms:W3CDTF">2026-07-08T11:02:32Z</dcterms:created>
  <dcterms:modified xsi:type="dcterms:W3CDTF">2026-07-08T13:06:19Z</dcterms:modified>
</cp:coreProperties>
</file>